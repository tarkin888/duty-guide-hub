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1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Journey Map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Duty Implementation — Consumer Support Outcome  |  CD-I4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Company Name]</a:t>
            </a:r>
            <a:endParaRPr lang="en-US" sz="1300" dirty="0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Journey: Making a Claim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journey mapped against effort, friction, and Consumer Duty controls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540764" y="1805940"/>
            <a:ext cx="9107424" cy="0"/>
          </a:xfrm>
          <a:prstGeom prst="line">
            <a:avLst/>
          </a:prstGeom>
          <a:noFill/>
          <a:ln w="25400">
            <a:solidFill>
              <a:srgbClr val="B7C9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Event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" y="2651760"/>
            <a:ext cx="64008" cy="6400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experiences insured loss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0936" y="3493008"/>
            <a:ext cx="64008" cy="6400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clear next steps, reassurance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0936" y="4334256"/>
            <a:ext cx="64008" cy="6400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Channel: any (phone, app, web)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79776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2E5C8A"/>
          </a:solidFill>
          <a:ln/>
        </p:spPr>
      </p:sp>
      <p:sp>
        <p:nvSpPr>
          <p:cNvPr id="16" name="Text 14"/>
          <p:cNvSpPr/>
          <p:nvPr/>
        </p:nvSpPr>
        <p:spPr>
          <a:xfrm>
            <a:off x="2871216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89504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Initiate Claim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79776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07792" y="2651760"/>
            <a:ext cx="64008" cy="6400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20" name="Text 18"/>
          <p:cNvSpPr/>
          <p:nvPr/>
        </p:nvSpPr>
        <p:spPr>
          <a:xfrm>
            <a:off x="3035808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contacts firm to start claim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07792" y="3493008"/>
            <a:ext cx="64008" cy="6400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22" name="Text 20"/>
          <p:cNvSpPr/>
          <p:nvPr/>
        </p:nvSpPr>
        <p:spPr>
          <a:xfrm>
            <a:off x="3035808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long wait times, unclear process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07792" y="4334256"/>
            <a:ext cx="64008" cy="6400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24" name="Text 22"/>
          <p:cNvSpPr/>
          <p:nvPr/>
        </p:nvSpPr>
        <p:spPr>
          <a:xfrm>
            <a:off x="3035808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Standard: Support Standards Definition (CD-I4)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56632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6D9EEB"/>
          </a:solidFill>
          <a:ln/>
        </p:spPr>
      </p:sp>
      <p:sp>
        <p:nvSpPr>
          <p:cNvPr id="26" name="Text 24"/>
          <p:cNvSpPr/>
          <p:nvPr/>
        </p:nvSpPr>
        <p:spPr>
          <a:xfrm>
            <a:off x="5148072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56632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84648" y="2651760"/>
            <a:ext cx="64008" cy="64008"/>
          </a:xfrm>
          <a:prstGeom prst="rect">
            <a:avLst/>
          </a:prstGeom>
          <a:solidFill>
            <a:srgbClr val="6D9EEB"/>
          </a:solidFill>
          <a:ln/>
        </p:spPr>
      </p:sp>
      <p:sp>
        <p:nvSpPr>
          <p:cNvPr id="30" name="Text 28"/>
          <p:cNvSpPr/>
          <p:nvPr/>
        </p:nvSpPr>
        <p:spPr>
          <a:xfrm>
            <a:off x="5312664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 reviews and validates claim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84648" y="3493008"/>
            <a:ext cx="64008" cy="64008"/>
          </a:xfrm>
          <a:prstGeom prst="rect">
            <a:avLst/>
          </a:prstGeom>
          <a:solidFill>
            <a:srgbClr val="6D9EEB"/>
          </a:solidFill>
          <a:ln/>
        </p:spPr>
      </p:sp>
      <p:sp>
        <p:nvSpPr>
          <p:cNvPr id="32" name="Text 30"/>
          <p:cNvSpPr/>
          <p:nvPr/>
        </p:nvSpPr>
        <p:spPr>
          <a:xfrm>
            <a:off x="5312664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excessive evidence requests (sludge)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84648" y="4334256"/>
            <a:ext cx="64008" cy="64008"/>
          </a:xfrm>
          <a:prstGeom prst="rect">
            <a:avLst/>
          </a:prstGeom>
          <a:solidFill>
            <a:srgbClr val="6D9EEB"/>
          </a:solidFill>
          <a:ln/>
        </p:spPr>
      </p:sp>
      <p:sp>
        <p:nvSpPr>
          <p:cNvPr id="34" name="Text 32"/>
          <p:cNvSpPr/>
          <p:nvPr/>
        </p:nvSpPr>
        <p:spPr>
          <a:xfrm>
            <a:off x="5312664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Control: Sludge Audit Assessment (CD-I4)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33488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9FC5E8"/>
          </a:solidFill>
          <a:ln/>
        </p:spPr>
      </p:sp>
      <p:sp>
        <p:nvSpPr>
          <p:cNvPr id="36" name="Text 34"/>
          <p:cNvSpPr/>
          <p:nvPr/>
        </p:nvSpPr>
        <p:spPr>
          <a:xfrm>
            <a:off x="7424928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43216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333488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61504" y="2651760"/>
            <a:ext cx="64008" cy="64008"/>
          </a:xfrm>
          <a:prstGeom prst="rect">
            <a:avLst/>
          </a:prstGeom>
          <a:solidFill>
            <a:srgbClr val="9FC5E8"/>
          </a:solidFill>
          <a:ln/>
        </p:spPr>
      </p:sp>
      <p:sp>
        <p:nvSpPr>
          <p:cNvPr id="40" name="Text 38"/>
          <p:cNvSpPr/>
          <p:nvPr/>
        </p:nvSpPr>
        <p:spPr>
          <a:xfrm>
            <a:off x="7589520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approved, part-approved, or declined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461504" y="3493008"/>
            <a:ext cx="64008" cy="64008"/>
          </a:xfrm>
          <a:prstGeom prst="rect">
            <a:avLst/>
          </a:prstGeom>
          <a:solidFill>
            <a:srgbClr val="9FC5E8"/>
          </a:solidFill>
          <a:ln/>
        </p:spPr>
      </p:sp>
      <p:sp>
        <p:nvSpPr>
          <p:cNvPr id="42" name="Text 40"/>
          <p:cNvSpPr/>
          <p:nvPr/>
        </p:nvSpPr>
        <p:spPr>
          <a:xfrm>
            <a:off x="7589520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decision rationale unclear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461504" y="4334256"/>
            <a:ext cx="64008" cy="64008"/>
          </a:xfrm>
          <a:prstGeom prst="rect">
            <a:avLst/>
          </a:prstGeom>
          <a:solidFill>
            <a:srgbClr val="9FC5E8"/>
          </a:solidFill>
          <a:ln/>
        </p:spPr>
      </p:sp>
      <p:sp>
        <p:nvSpPr>
          <p:cNvPr id="44" name="Text 42"/>
          <p:cNvSpPr/>
          <p:nvPr/>
        </p:nvSpPr>
        <p:spPr>
          <a:xfrm>
            <a:off x="7589520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Control: Plain Language Checklist (CD-I3)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10344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C9DAF8"/>
          </a:solidFill>
          <a:ln/>
        </p:spPr>
      </p:sp>
      <p:sp>
        <p:nvSpPr>
          <p:cNvPr id="46" name="Text 44"/>
          <p:cNvSpPr/>
          <p:nvPr/>
        </p:nvSpPr>
        <p:spPr>
          <a:xfrm>
            <a:off x="9701784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720072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9610344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738360" y="2651760"/>
            <a:ext cx="64008" cy="64008"/>
          </a:xfrm>
          <a:prstGeom prst="rect">
            <a:avLst/>
          </a:prstGeom>
          <a:solidFill>
            <a:srgbClr val="C9DAF8"/>
          </a:solidFill>
          <a:ln/>
        </p:spPr>
      </p:sp>
      <p:sp>
        <p:nvSpPr>
          <p:cNvPr id="50" name="Text 48"/>
          <p:cNvSpPr/>
          <p:nvPr/>
        </p:nvSpPr>
        <p:spPr>
          <a:xfrm>
            <a:off x="9866376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made or decline explained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738360" y="3493008"/>
            <a:ext cx="64008" cy="64008"/>
          </a:xfrm>
          <a:prstGeom prst="rect">
            <a:avLst/>
          </a:prstGeom>
          <a:solidFill>
            <a:srgbClr val="C9DAF8"/>
          </a:solidFill>
          <a:ln/>
        </p:spPr>
      </p:sp>
      <p:sp>
        <p:nvSpPr>
          <p:cNvPr id="52" name="Text 50"/>
          <p:cNvSpPr/>
          <p:nvPr/>
        </p:nvSpPr>
        <p:spPr>
          <a:xfrm>
            <a:off x="9866376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no route to challenge decision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738360" y="4334256"/>
            <a:ext cx="64008" cy="64008"/>
          </a:xfrm>
          <a:prstGeom prst="rect">
            <a:avLst/>
          </a:prstGeom>
          <a:solidFill>
            <a:srgbClr val="C9DAF8"/>
          </a:solidFill>
          <a:ln/>
        </p:spPr>
      </p:sp>
      <p:sp>
        <p:nvSpPr>
          <p:cNvPr id="54" name="Text 52"/>
          <p:cNvSpPr/>
          <p:nvPr/>
        </p:nvSpPr>
        <p:spPr>
          <a:xfrm>
            <a:off x="9866376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Control: Complaints Analysis Template (CD-I4)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the equivalent journey for switching, cancelling, and complaining — apply the Sludge Audit Assessment Framework (CD-I4) to each.</a:t>
            </a:r>
            <a:endParaRPr lang="en-US" sz="950" dirty="0"/>
          </a:p>
        </p:txBody>
      </p:sp>
      <p:sp>
        <p:nvSpPr>
          <p:cNvPr id="56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Journey Map — Blank Template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stage titles and notes below to map a different support journey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540764" y="1805940"/>
            <a:ext cx="9107424" cy="0"/>
          </a:xfrm>
          <a:prstGeom prst="line">
            <a:avLst/>
          </a:prstGeom>
          <a:noFill/>
          <a:ln w="25400">
            <a:solidFill>
              <a:srgbClr val="B7C9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 1]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" y="2651760"/>
            <a:ext cx="64008" cy="6400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action]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0936" y="3493008"/>
            <a:ext cx="64008" cy="6400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[Support risk]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0936" y="4334256"/>
            <a:ext cx="64008" cy="6400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[Control/standard]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79776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2E5C8A"/>
          </a:solidFill>
          <a:ln/>
        </p:spPr>
      </p:sp>
      <p:sp>
        <p:nvSpPr>
          <p:cNvPr id="16" name="Text 14"/>
          <p:cNvSpPr/>
          <p:nvPr/>
        </p:nvSpPr>
        <p:spPr>
          <a:xfrm>
            <a:off x="2871216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89504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 2]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79776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07792" y="2651760"/>
            <a:ext cx="64008" cy="6400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20" name="Text 18"/>
          <p:cNvSpPr/>
          <p:nvPr/>
        </p:nvSpPr>
        <p:spPr>
          <a:xfrm>
            <a:off x="3035808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action]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07792" y="3493008"/>
            <a:ext cx="64008" cy="6400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22" name="Text 20"/>
          <p:cNvSpPr/>
          <p:nvPr/>
        </p:nvSpPr>
        <p:spPr>
          <a:xfrm>
            <a:off x="3035808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[Support risk]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07792" y="4334256"/>
            <a:ext cx="64008" cy="6400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24" name="Text 22"/>
          <p:cNvSpPr/>
          <p:nvPr/>
        </p:nvSpPr>
        <p:spPr>
          <a:xfrm>
            <a:off x="3035808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[Control/standard]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56632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6D9EEB"/>
          </a:solidFill>
          <a:ln/>
        </p:spPr>
      </p:sp>
      <p:sp>
        <p:nvSpPr>
          <p:cNvPr id="26" name="Text 24"/>
          <p:cNvSpPr/>
          <p:nvPr/>
        </p:nvSpPr>
        <p:spPr>
          <a:xfrm>
            <a:off x="5148072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 3]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56632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84648" y="2651760"/>
            <a:ext cx="64008" cy="64008"/>
          </a:xfrm>
          <a:prstGeom prst="rect">
            <a:avLst/>
          </a:prstGeom>
          <a:solidFill>
            <a:srgbClr val="6D9EEB"/>
          </a:solidFill>
          <a:ln/>
        </p:spPr>
      </p:sp>
      <p:sp>
        <p:nvSpPr>
          <p:cNvPr id="30" name="Text 28"/>
          <p:cNvSpPr/>
          <p:nvPr/>
        </p:nvSpPr>
        <p:spPr>
          <a:xfrm>
            <a:off x="5312664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action]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84648" y="3493008"/>
            <a:ext cx="64008" cy="64008"/>
          </a:xfrm>
          <a:prstGeom prst="rect">
            <a:avLst/>
          </a:prstGeom>
          <a:solidFill>
            <a:srgbClr val="6D9EEB"/>
          </a:solidFill>
          <a:ln/>
        </p:spPr>
      </p:sp>
      <p:sp>
        <p:nvSpPr>
          <p:cNvPr id="32" name="Text 30"/>
          <p:cNvSpPr/>
          <p:nvPr/>
        </p:nvSpPr>
        <p:spPr>
          <a:xfrm>
            <a:off x="5312664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[Support risk]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84648" y="4334256"/>
            <a:ext cx="64008" cy="64008"/>
          </a:xfrm>
          <a:prstGeom prst="rect">
            <a:avLst/>
          </a:prstGeom>
          <a:solidFill>
            <a:srgbClr val="6D9EEB"/>
          </a:solidFill>
          <a:ln/>
        </p:spPr>
      </p:sp>
      <p:sp>
        <p:nvSpPr>
          <p:cNvPr id="34" name="Text 32"/>
          <p:cNvSpPr/>
          <p:nvPr/>
        </p:nvSpPr>
        <p:spPr>
          <a:xfrm>
            <a:off x="5312664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[Control/standard]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33488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9FC5E8"/>
          </a:solidFill>
          <a:ln/>
        </p:spPr>
      </p:sp>
      <p:sp>
        <p:nvSpPr>
          <p:cNvPr id="36" name="Text 34"/>
          <p:cNvSpPr/>
          <p:nvPr/>
        </p:nvSpPr>
        <p:spPr>
          <a:xfrm>
            <a:off x="7424928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43216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 4]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333488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61504" y="2651760"/>
            <a:ext cx="64008" cy="64008"/>
          </a:xfrm>
          <a:prstGeom prst="rect">
            <a:avLst/>
          </a:prstGeom>
          <a:solidFill>
            <a:srgbClr val="9FC5E8"/>
          </a:solidFill>
          <a:ln/>
        </p:spPr>
      </p:sp>
      <p:sp>
        <p:nvSpPr>
          <p:cNvPr id="40" name="Text 38"/>
          <p:cNvSpPr/>
          <p:nvPr/>
        </p:nvSpPr>
        <p:spPr>
          <a:xfrm>
            <a:off x="7589520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action]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461504" y="3493008"/>
            <a:ext cx="64008" cy="64008"/>
          </a:xfrm>
          <a:prstGeom prst="rect">
            <a:avLst/>
          </a:prstGeom>
          <a:solidFill>
            <a:srgbClr val="9FC5E8"/>
          </a:solidFill>
          <a:ln/>
        </p:spPr>
      </p:sp>
      <p:sp>
        <p:nvSpPr>
          <p:cNvPr id="42" name="Text 40"/>
          <p:cNvSpPr/>
          <p:nvPr/>
        </p:nvSpPr>
        <p:spPr>
          <a:xfrm>
            <a:off x="7589520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[Support risk]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461504" y="4334256"/>
            <a:ext cx="64008" cy="64008"/>
          </a:xfrm>
          <a:prstGeom prst="rect">
            <a:avLst/>
          </a:prstGeom>
          <a:solidFill>
            <a:srgbClr val="9FC5E8"/>
          </a:solidFill>
          <a:ln/>
        </p:spPr>
      </p:sp>
      <p:sp>
        <p:nvSpPr>
          <p:cNvPr id="44" name="Text 42"/>
          <p:cNvSpPr/>
          <p:nvPr/>
        </p:nvSpPr>
        <p:spPr>
          <a:xfrm>
            <a:off x="7589520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[Control/standard]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10344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C9DAF8"/>
          </a:solidFill>
          <a:ln/>
        </p:spPr>
      </p:sp>
      <p:sp>
        <p:nvSpPr>
          <p:cNvPr id="46" name="Text 44"/>
          <p:cNvSpPr/>
          <p:nvPr/>
        </p:nvSpPr>
        <p:spPr>
          <a:xfrm>
            <a:off x="9701784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720072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 5]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9610344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738360" y="2651760"/>
            <a:ext cx="64008" cy="64008"/>
          </a:xfrm>
          <a:prstGeom prst="rect">
            <a:avLst/>
          </a:prstGeom>
          <a:solidFill>
            <a:srgbClr val="C9DAF8"/>
          </a:solidFill>
          <a:ln/>
        </p:spPr>
      </p:sp>
      <p:sp>
        <p:nvSpPr>
          <p:cNvPr id="50" name="Text 48"/>
          <p:cNvSpPr/>
          <p:nvPr/>
        </p:nvSpPr>
        <p:spPr>
          <a:xfrm>
            <a:off x="9866376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action]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738360" y="3493008"/>
            <a:ext cx="64008" cy="64008"/>
          </a:xfrm>
          <a:prstGeom prst="rect">
            <a:avLst/>
          </a:prstGeom>
          <a:solidFill>
            <a:srgbClr val="C9DAF8"/>
          </a:solidFill>
          <a:ln/>
        </p:spPr>
      </p:sp>
      <p:sp>
        <p:nvSpPr>
          <p:cNvPr id="52" name="Text 50"/>
          <p:cNvSpPr/>
          <p:nvPr/>
        </p:nvSpPr>
        <p:spPr>
          <a:xfrm>
            <a:off x="9866376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[Support risk]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738360" y="4334256"/>
            <a:ext cx="64008" cy="64008"/>
          </a:xfrm>
          <a:prstGeom prst="rect">
            <a:avLst/>
          </a:prstGeom>
          <a:solidFill>
            <a:srgbClr val="C9DAF8"/>
          </a:solidFill>
          <a:ln/>
        </p:spPr>
      </p:sp>
      <p:sp>
        <p:nvSpPr>
          <p:cNvPr id="54" name="Text 52"/>
          <p:cNvSpPr/>
          <p:nvPr/>
        </p:nvSpPr>
        <p:spPr>
          <a:xfrm>
            <a:off x="9866376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[Control/standard]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or remove stages as needed for the journey being mapped.</a:t>
            </a:r>
            <a:endParaRPr lang="en-US" sz="950" dirty="0"/>
          </a:p>
        </p:txBody>
      </p:sp>
      <p:sp>
        <p:nvSpPr>
          <p:cNvPr id="56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2026-08-05T20:52:35Z</dcterms:created>
  <dcterms:modified xsi:type="dcterms:W3CDTF">2026-08-05T20:52:35Z</dcterms:modified>
</cp:coreProperties>
</file>