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1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Journey Mapping Template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Duty Implementation — Consumer Understanding Outcome  |  CD-I3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Company Name]</a:t>
            </a:r>
            <a:endParaRPr lang="en-US" sz="1300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Journey: Buying a Stocks &amp; Shares ISA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each stage against customer understanding risks and supporting evidence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40764" y="1805940"/>
            <a:ext cx="9107424" cy="0"/>
          </a:xfrm>
          <a:prstGeom prst="line">
            <a:avLst/>
          </a:prstGeom>
          <a:noFill/>
          <a:ln w="25400">
            <a:solidFill>
              <a:srgbClr val="B7C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2651760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marketing communication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" y="3493008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benefits overstated vs risks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" y="4334256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Marketing Review Checklist (CD-I3)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79776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2E5C8A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9504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79776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7792" y="2651760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0" name="Text 18"/>
          <p:cNvSpPr/>
          <p:nvPr/>
        </p:nvSpPr>
        <p:spPr>
          <a:xfrm>
            <a:off x="3035808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key features document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07792" y="3493008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2" name="Text 20"/>
          <p:cNvSpPr/>
          <p:nvPr/>
        </p:nvSpPr>
        <p:spPr>
          <a:xfrm>
            <a:off x="3035808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jargon obscures risk warnings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07792" y="4334256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4" name="Text 22"/>
          <p:cNvSpPr/>
          <p:nvPr/>
        </p:nvSpPr>
        <p:spPr>
          <a:xfrm>
            <a:off x="3035808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Plain Language Checklist (CD-I3)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56632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6D9EEB"/>
          </a:solidFill>
          <a:ln/>
        </p:spPr>
      </p:sp>
      <p:sp>
        <p:nvSpPr>
          <p:cNvPr id="26" name="Text 24"/>
          <p:cNvSpPr/>
          <p:nvPr/>
        </p:nvSpPr>
        <p:spPr>
          <a:xfrm>
            <a:off x="5148072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56632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4648" y="2651760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0" name="Text 28"/>
          <p:cNvSpPr/>
          <p:nvPr/>
        </p:nvSpPr>
        <p:spPr>
          <a:xfrm>
            <a:off x="5312664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Completes appropriateness questionnaire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84648" y="3493008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2" name="Text 30"/>
          <p:cNvSpPr/>
          <p:nvPr/>
        </p:nvSpPr>
        <p:spPr>
          <a:xfrm>
            <a:off x="5312664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doesn't understand capital-at-risk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84648" y="4334256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4" name="Text 32"/>
          <p:cNvSpPr/>
          <p:nvPr/>
        </p:nvSpPr>
        <p:spPr>
          <a:xfrm>
            <a:off x="5312664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Comprehension Survey (CD-I3)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9FC5E8"/>
          </a:solidFill>
          <a:ln/>
        </p:spPr>
      </p:sp>
      <p:sp>
        <p:nvSpPr>
          <p:cNvPr id="36" name="Text 34"/>
          <p:cNvSpPr/>
          <p:nvPr/>
        </p:nvSpPr>
        <p:spPr>
          <a:xfrm>
            <a:off x="7424928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43216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33488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61504" y="2651760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application online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61504" y="3493008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confirmation lacks clear next steps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461504" y="4334256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Readability Assessment (CD-I3)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10344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C9DAF8"/>
          </a:solidFill>
          <a:ln/>
        </p:spPr>
      </p:sp>
      <p:sp>
        <p:nvSpPr>
          <p:cNvPr id="46" name="Text 44"/>
          <p:cNvSpPr/>
          <p:nvPr/>
        </p:nvSpPr>
        <p:spPr>
          <a:xfrm>
            <a:off x="9701784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720072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Post-Sale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610344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38360" y="2651760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0" name="Text 48"/>
          <p:cNvSpPr/>
          <p:nvPr/>
        </p:nvSpPr>
        <p:spPr>
          <a:xfrm>
            <a:off x="9866376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welcome pack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38360" y="3493008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2" name="Text 50"/>
          <p:cNvSpPr/>
          <p:nvPr/>
        </p:nvSpPr>
        <p:spPr>
          <a:xfrm>
            <a:off x="9866376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ongoing charges not reiterated clearly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738360" y="4334256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4" name="Text 52"/>
          <p:cNvSpPr/>
          <p:nvPr/>
        </p:nvSpPr>
        <p:spPr>
          <a:xfrm>
            <a:off x="9866376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Annual statement plain-language review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this mapping exercise for each key product; feed findings into the Communication Testing Protocol (CD-I3).</a:t>
            </a:r>
            <a:endParaRPr lang="en-US" sz="950" dirty="0"/>
          </a:p>
        </p:txBody>
      </p:sp>
      <p:sp>
        <p:nvSpPr>
          <p:cNvPr id="5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Journey Mapping — Blank Template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stage titles and notes below to map a different product or journey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40764" y="1805940"/>
            <a:ext cx="9107424" cy="0"/>
          </a:xfrm>
          <a:prstGeom prst="line">
            <a:avLst/>
          </a:prstGeom>
          <a:noFill/>
          <a:ln w="25400">
            <a:solidFill>
              <a:srgbClr val="B7C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1]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2651760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" y="3493008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[Understanding risk]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" y="4334256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[Control/evidence]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79776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2E5C8A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9504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2]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79776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7792" y="2651760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0" name="Text 18"/>
          <p:cNvSpPr/>
          <p:nvPr/>
        </p:nvSpPr>
        <p:spPr>
          <a:xfrm>
            <a:off x="3035808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07792" y="3493008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2" name="Text 20"/>
          <p:cNvSpPr/>
          <p:nvPr/>
        </p:nvSpPr>
        <p:spPr>
          <a:xfrm>
            <a:off x="3035808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[Understanding risk]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07792" y="4334256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4" name="Text 22"/>
          <p:cNvSpPr/>
          <p:nvPr/>
        </p:nvSpPr>
        <p:spPr>
          <a:xfrm>
            <a:off x="3035808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[Control/evidence]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56632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6D9EEB"/>
          </a:solidFill>
          <a:ln/>
        </p:spPr>
      </p:sp>
      <p:sp>
        <p:nvSpPr>
          <p:cNvPr id="26" name="Text 24"/>
          <p:cNvSpPr/>
          <p:nvPr/>
        </p:nvSpPr>
        <p:spPr>
          <a:xfrm>
            <a:off x="5148072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3]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56632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4648" y="2651760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0" name="Text 28"/>
          <p:cNvSpPr/>
          <p:nvPr/>
        </p:nvSpPr>
        <p:spPr>
          <a:xfrm>
            <a:off x="5312664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84648" y="3493008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2" name="Text 30"/>
          <p:cNvSpPr/>
          <p:nvPr/>
        </p:nvSpPr>
        <p:spPr>
          <a:xfrm>
            <a:off x="5312664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[Understanding risk]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84648" y="4334256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4" name="Text 32"/>
          <p:cNvSpPr/>
          <p:nvPr/>
        </p:nvSpPr>
        <p:spPr>
          <a:xfrm>
            <a:off x="5312664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[Control/evidence]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9FC5E8"/>
          </a:solidFill>
          <a:ln/>
        </p:spPr>
      </p:sp>
      <p:sp>
        <p:nvSpPr>
          <p:cNvPr id="36" name="Text 34"/>
          <p:cNvSpPr/>
          <p:nvPr/>
        </p:nvSpPr>
        <p:spPr>
          <a:xfrm>
            <a:off x="7424928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43216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4]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33488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61504" y="2651760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action]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61504" y="3493008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[Understanding risk]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461504" y="4334256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[Control/evidence]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10344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C9DAF8"/>
          </a:solidFill>
          <a:ln/>
        </p:spPr>
      </p:sp>
      <p:sp>
        <p:nvSpPr>
          <p:cNvPr id="46" name="Text 44"/>
          <p:cNvSpPr/>
          <p:nvPr/>
        </p:nvSpPr>
        <p:spPr>
          <a:xfrm>
            <a:off x="9701784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720072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5]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610344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38360" y="2651760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0" name="Text 48"/>
          <p:cNvSpPr/>
          <p:nvPr/>
        </p:nvSpPr>
        <p:spPr>
          <a:xfrm>
            <a:off x="9866376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action]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38360" y="3493008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2" name="Text 50"/>
          <p:cNvSpPr/>
          <p:nvPr/>
        </p:nvSpPr>
        <p:spPr>
          <a:xfrm>
            <a:off x="9866376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[Understanding risk]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738360" y="4334256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4" name="Text 52"/>
          <p:cNvSpPr/>
          <p:nvPr/>
        </p:nvSpPr>
        <p:spPr>
          <a:xfrm>
            <a:off x="9866376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[Control/evidence]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remove stages as needed for the journey being mapped.</a:t>
            </a:r>
            <a:endParaRPr lang="en-US" sz="950" dirty="0"/>
          </a:p>
        </p:txBody>
      </p:sp>
      <p:sp>
        <p:nvSpPr>
          <p:cNvPr id="5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2026-08-05T20:52:35Z</dcterms:created>
  <dcterms:modified xsi:type="dcterms:W3CDTF">2026-08-05T20:52:35Z</dcterms:modified>
</cp:coreProperties>
</file>