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1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Journey Mapping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Duty Implementation — Vulnerable Customers  |  CD-I5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Company Name]</a:t>
            </a:r>
            <a:endParaRPr lang="en-US" sz="1300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Journey: Customer Experiencing Bereavement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firm identifies, supports, and adapts service for a customer navigating a life event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540764" y="1805940"/>
            <a:ext cx="9107424" cy="0"/>
          </a:xfrm>
          <a:prstGeom prst="line">
            <a:avLst/>
          </a:prstGeom>
          <a:noFill/>
          <a:ln w="25400">
            <a:solidFill>
              <a:srgbClr val="B7C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2651760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Customer/representative contacts firm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0936" y="3493008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mentions recent bereavement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" y="4334256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Guide: Recognition Guide for Staff (CD-I5)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79776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2E5C8A"/>
          </a:solidFill>
          <a:ln/>
        </p:spPr>
      </p:sp>
      <p:sp>
        <p:nvSpPr>
          <p:cNvPr id="16" name="Text 14"/>
          <p:cNvSpPr/>
          <p:nvPr/>
        </p:nvSpPr>
        <p:spPr>
          <a:xfrm>
            <a:off x="2871216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9504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79776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07792" y="2651760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0" name="Text 18"/>
          <p:cNvSpPr/>
          <p:nvPr/>
        </p:nvSpPr>
        <p:spPr>
          <a:xfrm>
            <a:off x="3035808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sensitively confirms support needs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07792" y="3493008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2" name="Text 20"/>
          <p:cNvSpPr/>
          <p:nvPr/>
        </p:nvSpPr>
        <p:spPr>
          <a:xfrm>
            <a:off x="3035808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with consent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07792" y="4334256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4" name="Text 22"/>
          <p:cNvSpPr/>
          <p:nvPr/>
        </p:nvSpPr>
        <p:spPr>
          <a:xfrm>
            <a:off x="3035808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Recording Procedures Document (CD-I5)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56632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6D9EEB"/>
          </a:solidFill>
          <a:ln/>
        </p:spPr>
      </p:sp>
      <p:sp>
        <p:nvSpPr>
          <p:cNvPr id="26" name="Text 24"/>
          <p:cNvSpPr/>
          <p:nvPr/>
        </p:nvSpPr>
        <p:spPr>
          <a:xfrm>
            <a:off x="5148072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56632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84648" y="2651760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0" name="Text 28"/>
          <p:cNvSpPr/>
          <p:nvPr/>
        </p:nvSpPr>
        <p:spPr>
          <a:xfrm>
            <a:off x="5312664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time allowed, named contact offered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84648" y="3493008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2" name="Text 30"/>
          <p:cNvSpPr/>
          <p:nvPr/>
        </p:nvSpPr>
        <p:spPr>
          <a:xfrm>
            <a:off x="5312664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evidence burden where possible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84648" y="4334256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4" name="Text 32"/>
          <p:cNvSpPr/>
          <p:nvPr/>
        </p:nvSpPr>
        <p:spPr>
          <a:xfrm>
            <a:off x="5312664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Standard: Support Standards Definition (CD-I4)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33488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9FC5E8"/>
          </a:solidFill>
          <a:ln/>
        </p:spPr>
      </p:sp>
      <p:sp>
        <p:nvSpPr>
          <p:cNvPr id="36" name="Text 34"/>
          <p:cNvSpPr/>
          <p:nvPr/>
        </p:nvSpPr>
        <p:spPr>
          <a:xfrm>
            <a:off x="7424928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43216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33488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61504" y="2651760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0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Account/estate matter resolved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61504" y="3493008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0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Signposted to bereavement support if needed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461504" y="4334256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4" name="Text 42"/>
          <p:cNvSpPr/>
          <p:nvPr/>
        </p:nvSpPr>
        <p:spPr>
          <a:xfrm>
            <a:off x="7589520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Directory: External Support Organisations (CD-I5)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10344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C9DAF8"/>
          </a:solidFill>
          <a:ln/>
        </p:spPr>
      </p:sp>
      <p:sp>
        <p:nvSpPr>
          <p:cNvPr id="46" name="Text 44"/>
          <p:cNvSpPr/>
          <p:nvPr/>
        </p:nvSpPr>
        <p:spPr>
          <a:xfrm>
            <a:off x="9701784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720072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610344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38360" y="2651760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0" name="Text 48"/>
          <p:cNvSpPr/>
          <p:nvPr/>
        </p:nvSpPr>
        <p:spPr>
          <a:xfrm>
            <a:off x="9866376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flag reviewed for continued relevance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738360" y="3493008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2" name="Text 50"/>
          <p:cNvSpPr/>
          <p:nvPr/>
        </p:nvSpPr>
        <p:spPr>
          <a:xfrm>
            <a:off x="9866376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logged for monitoring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738360" y="4334256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4" name="Text 52"/>
          <p:cNvSpPr/>
          <p:nvPr/>
        </p:nvSpPr>
        <p:spPr>
          <a:xfrm>
            <a:off x="9866376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Feed: Monitoring Dashboard Specification (CD-I5)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this mapping for other common vulnerability triggers (e.g., job loss, health diagnosis, financial difficulty).</a:t>
            </a:r>
            <a:endParaRPr lang="en-US" sz="950" dirty="0"/>
          </a:p>
        </p:txBody>
      </p:sp>
      <p:sp>
        <p:nvSpPr>
          <p:cNvPr id="56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Journey Mapping — Blank Template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stage titles and notes below to map a different vulnerability trigger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540764" y="1805940"/>
            <a:ext cx="9107424" cy="0"/>
          </a:xfrm>
          <a:prstGeom prst="line">
            <a:avLst/>
          </a:prstGeom>
          <a:noFill/>
          <a:ln w="25400">
            <a:solidFill>
              <a:srgbClr val="B7C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1]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2651760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action/signal]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0936" y="3493008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[Staff response]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" y="4334256"/>
            <a:ext cx="64008" cy="640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[Supporting document]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79776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2E5C8A"/>
          </a:solidFill>
          <a:ln/>
        </p:spPr>
      </p:sp>
      <p:sp>
        <p:nvSpPr>
          <p:cNvPr id="16" name="Text 14"/>
          <p:cNvSpPr/>
          <p:nvPr/>
        </p:nvSpPr>
        <p:spPr>
          <a:xfrm>
            <a:off x="2871216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9504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2]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79776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07792" y="2651760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0" name="Text 18"/>
          <p:cNvSpPr/>
          <p:nvPr/>
        </p:nvSpPr>
        <p:spPr>
          <a:xfrm>
            <a:off x="3035808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action/signal]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07792" y="3493008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2" name="Text 20"/>
          <p:cNvSpPr/>
          <p:nvPr/>
        </p:nvSpPr>
        <p:spPr>
          <a:xfrm>
            <a:off x="3035808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[Staff response]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07792" y="4334256"/>
            <a:ext cx="64008" cy="64008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4" name="Text 22"/>
          <p:cNvSpPr/>
          <p:nvPr/>
        </p:nvSpPr>
        <p:spPr>
          <a:xfrm>
            <a:off x="3035808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[Supporting document]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56632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6D9EEB"/>
          </a:solidFill>
          <a:ln/>
        </p:spPr>
      </p:sp>
      <p:sp>
        <p:nvSpPr>
          <p:cNvPr id="26" name="Text 24"/>
          <p:cNvSpPr/>
          <p:nvPr/>
        </p:nvSpPr>
        <p:spPr>
          <a:xfrm>
            <a:off x="5148072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3]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56632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84648" y="2651760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0" name="Text 28"/>
          <p:cNvSpPr/>
          <p:nvPr/>
        </p:nvSpPr>
        <p:spPr>
          <a:xfrm>
            <a:off x="5312664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action/signal]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84648" y="3493008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2" name="Text 30"/>
          <p:cNvSpPr/>
          <p:nvPr/>
        </p:nvSpPr>
        <p:spPr>
          <a:xfrm>
            <a:off x="5312664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[Staff response]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84648" y="4334256"/>
            <a:ext cx="64008" cy="64008"/>
          </a:xfrm>
          <a:prstGeom prst="rect">
            <a:avLst/>
          </a:prstGeom>
          <a:solidFill>
            <a:srgbClr val="6D9EEB"/>
          </a:solidFill>
          <a:ln/>
        </p:spPr>
      </p:sp>
      <p:sp>
        <p:nvSpPr>
          <p:cNvPr id="34" name="Text 32"/>
          <p:cNvSpPr/>
          <p:nvPr/>
        </p:nvSpPr>
        <p:spPr>
          <a:xfrm>
            <a:off x="5312664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[Supporting document]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33488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9FC5E8"/>
          </a:solidFill>
          <a:ln/>
        </p:spPr>
      </p:sp>
      <p:sp>
        <p:nvSpPr>
          <p:cNvPr id="36" name="Text 34"/>
          <p:cNvSpPr/>
          <p:nvPr/>
        </p:nvSpPr>
        <p:spPr>
          <a:xfrm>
            <a:off x="7424928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43216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4]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33488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61504" y="2651760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0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action/signal]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61504" y="3493008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0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[Staff response]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461504" y="4334256"/>
            <a:ext cx="64008" cy="64008"/>
          </a:xfrm>
          <a:prstGeom prst="rect">
            <a:avLst/>
          </a:prstGeom>
          <a:solidFill>
            <a:srgbClr val="9FC5E8"/>
          </a:solidFill>
          <a:ln/>
        </p:spPr>
      </p:sp>
      <p:sp>
        <p:nvSpPr>
          <p:cNvPr id="44" name="Text 42"/>
          <p:cNvSpPr/>
          <p:nvPr/>
        </p:nvSpPr>
        <p:spPr>
          <a:xfrm>
            <a:off x="7589520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[Supporting document]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10344" y="1417320"/>
            <a:ext cx="2075688" cy="777240"/>
          </a:xfrm>
          <a:prstGeom prst="roundRect">
            <a:avLst>
              <a:gd name="adj" fmla="val 8235"/>
            </a:avLst>
          </a:prstGeom>
          <a:solidFill>
            <a:srgbClr val="C9DAF8"/>
          </a:solidFill>
          <a:ln/>
        </p:spPr>
      </p:sp>
      <p:sp>
        <p:nvSpPr>
          <p:cNvPr id="46" name="Text 44"/>
          <p:cNvSpPr/>
          <p:nvPr/>
        </p:nvSpPr>
        <p:spPr>
          <a:xfrm>
            <a:off x="9701784" y="14721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720072" y="1709928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 5]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610344" y="2450592"/>
            <a:ext cx="2075688" cy="4160520"/>
          </a:xfrm>
          <a:prstGeom prst="roundRect">
            <a:avLst>
              <a:gd name="adj" fmla="val 2643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38360" y="2651760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0" name="Text 48"/>
          <p:cNvSpPr/>
          <p:nvPr/>
        </p:nvSpPr>
        <p:spPr>
          <a:xfrm>
            <a:off x="9866376" y="258775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action/signal]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738360" y="3493008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2" name="Text 50"/>
          <p:cNvSpPr/>
          <p:nvPr/>
        </p:nvSpPr>
        <p:spPr>
          <a:xfrm>
            <a:off x="9866376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[Staff response]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738360" y="4334256"/>
            <a:ext cx="64008" cy="64008"/>
          </a:xfrm>
          <a:prstGeom prst="rect">
            <a:avLst/>
          </a:prstGeom>
          <a:solidFill>
            <a:srgbClr val="C9DAF8"/>
          </a:solidFill>
          <a:ln/>
        </p:spPr>
      </p:sp>
      <p:sp>
        <p:nvSpPr>
          <p:cNvPr id="54" name="Text 52"/>
          <p:cNvSpPr/>
          <p:nvPr/>
        </p:nvSpPr>
        <p:spPr>
          <a:xfrm>
            <a:off x="9866376" y="42702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[Supporting document]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or remove stages as needed for the vulnerability trigger being mapped.</a:t>
            </a:r>
            <a:endParaRPr lang="en-US" sz="950" dirty="0"/>
          </a:p>
        </p:txBody>
      </p:sp>
      <p:sp>
        <p:nvSpPr>
          <p:cNvPr id="56" name="Footer Placeholder"/>
          <p:cNvSpPr>
            <a:spLocks noGrp="1"/>
          </p:cNvSpPr>
          <p:nvPr>
            <p:ph type="ftr" sz="quarter"/>
          </p:nvPr>
        </p:nvSpPr>
        <p:spPr>
          <a:xfrm>
            <a:off x="1143000" y="6356350"/>
            <a:ext cx="99060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GB" sz="1000" dirty="0">
                <a:solidFill>
                  <a:srgbClr val="808080"/>
                </a:solidFill>
              </a:rPr>
              <a:t>© 2026 xPercept.ai. Copyright and confidential. Do not distribute.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2026-08-05T20:52:35Z</dcterms:created>
  <dcterms:modified xsi:type="dcterms:W3CDTF">2026-08-05T20:52:35Z</dcterms:modified>
</cp:coreProperties>
</file>