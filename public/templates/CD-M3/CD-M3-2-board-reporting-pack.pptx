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E2761"/>
                </a:solidFill>
                <a:latin typeface="Cambria"/>
              </a:defRPr>
            </a:pPr>
            <a:r>
              <a:rPr sz="1400" b="0" i="0" u="none" strike="noStrike">
                <a:solidFill>
                  <a:srgbClr val="1E2761"/>
                </a:solidFill>
                <a:latin typeface="Cambria"/>
              </a:rPr>
              <a:t>Complaint Volume — Last 6 Months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Complaints</c:v>
                </c:pt>
              </c:strCache>
            </c:strRef>
          </c:tx>
          <c:spPr>
            <a:solidFill>
              <a:srgbClr val="C0392B"/>
            </a:solidFill>
            <a:ln w="38100" cap="flat">
              <a:solidFill>
                <a:srgbClr val="C0392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33333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C0392B"/>
              </a:solidFill>
              <a:ln w="9525" cap="flat">
                <a:solidFill>
                  <a:srgbClr val="C0392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Oct-25</c:v>
                  </c:pt>
                  <c:pt idx="1">
                    <c:v>Nov-25</c:v>
                  </c:pt>
                  <c:pt idx="2">
                    <c:v>Dec-25</c:v>
                  </c:pt>
                  <c:pt idx="3">
                    <c:v>Jan-26</c:v>
                  </c:pt>
                  <c:pt idx="4">
                    <c:v>Feb-26</c:v>
                  </c:pt>
                  <c:pt idx="5">
                    <c:v>Mar-26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210</c:v>
                </c:pt>
                <c:pt idx="1">
                  <c:v>225</c:v>
                </c:pt>
                <c:pt idx="2">
                  <c:v>260</c:v>
                </c:pt>
                <c:pt idx="3">
                  <c:v>240</c:v>
                </c:pt>
                <c:pt idx="4">
                  <c:v>275</c:v>
                </c:pt>
                <c:pt idx="5">
                  <c:v>300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333333"/>
                  </a:solidFill>
                  <a:latin typeface="Arial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9595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5E5E5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Complaints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9595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"/>
          <p:cNvSpPr>
            <a:spLocks noGrp="1"/>
          </p:cNvSpPr>
          <p:nvPr>
            <p:ph type="ftr" sz="quarter"/>
          </p:nvPr>
        </p:nvSpPr>
        <p:spPr>
          <a:xfrm>
            <a:off x="1143000" y="6356350"/>
            <a:ext cx="9906000" cy="400050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en-GB" sz="1000" dirty="0">
                <a:solidFill>
                  <a:srgbClr val="808080"/>
                </a:solidFill>
              </a:rPr>
              <a:t>© 2026 xPercept.ai. Copyright and confidential. Do not distribute.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"/>
          <p:cNvSpPr>
            <a:spLocks noGrp="1"/>
          </p:cNvSpPr>
          <p:nvPr>
            <p:ph type="ftr" sz="quarter"/>
          </p:nvPr>
        </p:nvSpPr>
        <p:spPr>
          <a:xfrm>
            <a:off x="1143000" y="6356350"/>
            <a:ext cx="9906000" cy="400050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en-GB" sz="1000" dirty="0">
                <a:solidFill>
                  <a:srgbClr val="808080"/>
                </a:solidFill>
              </a:rPr>
              <a:t>© 2026 xPercept.ai. Copyright and confidential. Do not distribute.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1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28600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Consumer Duty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731520" y="288036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Board Reporting Pack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365760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Period: [Insert — e.g., Q1 2026]  |  CD-M3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8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Company Name]</a:t>
            </a:r>
            <a:endParaRPr lang="en-US" sz="1200" dirty="0"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/>
          </p:nvPr>
        </p:nvSpPr>
        <p:spPr>
          <a:xfrm>
            <a:off x="1143000" y="6356350"/>
            <a:ext cx="9906000" cy="400050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en-GB" sz="1000" dirty="0">
                <a:solidFill>
                  <a:srgbClr val="808080"/>
                </a:solidFill>
              </a:rPr>
              <a:t>© 2026 xPercept.ai. Copyright and confidential. Do not distribute.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Summary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 Consumer Duty performance this reporting period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39496" y="155448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F7F9FC"/>
          </a:solidFill>
          <a:ln w="12700">
            <a:solidFill>
              <a:srgbClr val="E1E6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8096" y="1783080"/>
            <a:ext cx="457200" cy="73152"/>
          </a:xfrm>
          <a:prstGeom prst="rect">
            <a:avLst/>
          </a:prstGeom>
          <a:solidFill>
            <a:srgbClr val="E8A93B"/>
          </a:solidFill>
          <a:ln/>
        </p:spPr>
      </p:sp>
      <p:sp>
        <p:nvSpPr>
          <p:cNvPr id="6" name="Text 4"/>
          <p:cNvSpPr/>
          <p:nvPr/>
        </p:nvSpPr>
        <p:spPr>
          <a:xfrm>
            <a:off x="722376" y="1920240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Amber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22376" y="260604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Outcome RAG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374136" y="155448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F7F9FC"/>
          </a:solidFill>
          <a:ln w="12700">
            <a:solidFill>
              <a:srgbClr val="E1E6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02736" y="1783080"/>
            <a:ext cx="457200" cy="73152"/>
          </a:xfrm>
          <a:prstGeom prst="rect">
            <a:avLst/>
          </a:prstGeom>
          <a:solidFill>
            <a:srgbClr val="5B7FD4"/>
          </a:solidFill>
          <a:ln/>
        </p:spPr>
      </p:sp>
      <p:sp>
        <p:nvSpPr>
          <p:cNvPr id="10" name="Text 8"/>
          <p:cNvSpPr/>
          <p:nvPr/>
        </p:nvSpPr>
        <p:spPr>
          <a:xfrm>
            <a:off x="3557016" y="1920240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3.9 / 5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3557016" y="260604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Satisfaction (CSAT)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208776" y="155448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F7F9FC"/>
          </a:solidFill>
          <a:ln w="12700">
            <a:solidFill>
              <a:srgbClr val="E1E6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37376" y="1783080"/>
            <a:ext cx="457200" cy="7315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4" name="Text 12"/>
          <p:cNvSpPr/>
          <p:nvPr/>
        </p:nvSpPr>
        <p:spPr>
          <a:xfrm>
            <a:off x="6391656" y="1920240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+15%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6391656" y="260604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Complaints vs Prior Period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9043416" y="155448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F7F9FC"/>
          </a:solidFill>
          <a:ln w="12700">
            <a:solidFill>
              <a:srgbClr val="E1E6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272016" y="1783080"/>
            <a:ext cx="457200" cy="73152"/>
          </a:xfrm>
          <a:prstGeom prst="rect">
            <a:avLst/>
          </a:prstGeom>
          <a:solidFill>
            <a:srgbClr val="3E8E5A"/>
          </a:solidFill>
          <a:ln/>
        </p:spPr>
      </p:sp>
      <p:sp>
        <p:nvSpPr>
          <p:cNvPr id="18" name="Text 16"/>
          <p:cNvSpPr/>
          <p:nvPr/>
        </p:nvSpPr>
        <p:spPr>
          <a:xfrm>
            <a:off x="9226296" y="1920240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19%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9226296" y="260604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Vulnerable Customers Identified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3429000"/>
            <a:ext cx="11091672" cy="2651760"/>
          </a:xfrm>
          <a:prstGeom prst="roundRect">
            <a:avLst>
              <a:gd name="adj" fmla="val 2069"/>
            </a:avLst>
          </a:prstGeom>
          <a:solidFill>
            <a:srgbClr val="F7F9FC"/>
          </a:solidFill>
          <a:ln w="12700">
            <a:solidFill>
              <a:srgbClr val="E1E6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3611880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Narrative Summary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77240" y="3977640"/>
            <a:ext cx="106070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3-5 sentence narrative summarising overall Consumer Duty performance this period: key achievements, most significant risks, and any material change since the last report. Draw from the Executive Dashboard (CD-M1) and Annual Consumer Duty Board Report (CD-M3).]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" y="653796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Board Papers  |  Slide 2 of 7</a:t>
            </a:r>
            <a:endParaRPr lang="en-US" sz="900" dirty="0"/>
          </a:p>
        </p:txBody>
      </p:sp>
      <p:sp>
        <p:nvSpPr>
          <p:cNvPr id="24" name="Footer Placeholder"/>
          <p:cNvSpPr>
            <a:spLocks noGrp="1"/>
          </p:cNvSpPr>
          <p:nvPr>
            <p:ph type="ftr" sz="quarter"/>
          </p:nvPr>
        </p:nvSpPr>
        <p:spPr>
          <a:xfrm>
            <a:off x="1143000" y="6356350"/>
            <a:ext cx="9906000" cy="400050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en-GB" sz="1000" dirty="0">
                <a:solidFill>
                  <a:srgbClr val="808080"/>
                </a:solidFill>
              </a:rPr>
              <a:t>© 2026 xPercept.ai. Copyright and confidential. Do not distribute.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Outcome Scorecard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status by Consumer Duty Outcome — see Consumer Outcomes KPI Framework (CD-M1) for full detail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85216" y="1554480"/>
            <a:ext cx="2057400" cy="2103120"/>
          </a:xfrm>
          <a:prstGeom prst="roundRect">
            <a:avLst>
              <a:gd name="adj" fmla="val 3556"/>
            </a:avLst>
          </a:prstGeom>
          <a:solidFill>
            <a:srgbClr val="3E8E5A"/>
          </a:solidFill>
          <a:ln/>
        </p:spPr>
      </p:sp>
      <p:sp>
        <p:nvSpPr>
          <p:cNvPr id="5" name="Text 3"/>
          <p:cNvSpPr/>
          <p:nvPr/>
        </p:nvSpPr>
        <p:spPr>
          <a:xfrm>
            <a:off x="722376" y="173736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Green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22376" y="2286000"/>
            <a:ext cx="17830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Cross-Cutting Rules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825496" y="1554480"/>
            <a:ext cx="2057400" cy="2103120"/>
          </a:xfrm>
          <a:prstGeom prst="roundRect">
            <a:avLst>
              <a:gd name="adj" fmla="val 3556"/>
            </a:avLst>
          </a:prstGeom>
          <a:solidFill>
            <a:srgbClr val="E8A93B"/>
          </a:solidFill>
          <a:ln/>
        </p:spPr>
      </p:sp>
      <p:sp>
        <p:nvSpPr>
          <p:cNvPr id="8" name="Text 6"/>
          <p:cNvSpPr/>
          <p:nvPr/>
        </p:nvSpPr>
        <p:spPr>
          <a:xfrm>
            <a:off x="2962656" y="173736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Amber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962656" y="2286000"/>
            <a:ext cx="17830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 &amp; Services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65776" y="1554480"/>
            <a:ext cx="2057400" cy="2103120"/>
          </a:xfrm>
          <a:prstGeom prst="roundRect">
            <a:avLst>
              <a:gd name="adj" fmla="val 3556"/>
            </a:avLst>
          </a:prstGeom>
          <a:solidFill>
            <a:srgbClr val="E8A93B"/>
          </a:solidFill>
          <a:ln/>
        </p:spPr>
      </p:sp>
      <p:sp>
        <p:nvSpPr>
          <p:cNvPr id="11" name="Text 9"/>
          <p:cNvSpPr/>
          <p:nvPr/>
        </p:nvSpPr>
        <p:spPr>
          <a:xfrm>
            <a:off x="5202936" y="173736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Amber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202936" y="2286000"/>
            <a:ext cx="17830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&amp; Value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306056" y="1554480"/>
            <a:ext cx="2057400" cy="2103120"/>
          </a:xfrm>
          <a:prstGeom prst="roundRect">
            <a:avLst>
              <a:gd name="adj" fmla="val 3556"/>
            </a:avLst>
          </a:prstGeom>
          <a:solidFill>
            <a:srgbClr val="3E8E5A"/>
          </a:solidFill>
          <a:ln/>
        </p:spPr>
      </p:sp>
      <p:sp>
        <p:nvSpPr>
          <p:cNvPr id="14" name="Text 12"/>
          <p:cNvSpPr/>
          <p:nvPr/>
        </p:nvSpPr>
        <p:spPr>
          <a:xfrm>
            <a:off x="7443216" y="173736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Green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443216" y="2286000"/>
            <a:ext cx="17830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Understanding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9546336" y="1554480"/>
            <a:ext cx="2057400" cy="2103120"/>
          </a:xfrm>
          <a:prstGeom prst="roundRect">
            <a:avLst>
              <a:gd name="adj" fmla="val 3556"/>
            </a:avLst>
          </a:prstGeom>
          <a:solidFill>
            <a:srgbClr val="E8A93B"/>
          </a:solidFill>
          <a:ln/>
        </p:spPr>
      </p:sp>
      <p:sp>
        <p:nvSpPr>
          <p:cNvPr id="17" name="Text 15"/>
          <p:cNvSpPr/>
          <p:nvPr/>
        </p:nvSpPr>
        <p:spPr>
          <a:xfrm>
            <a:off x="9683496" y="173736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Amber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683496" y="2286000"/>
            <a:ext cx="17830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Support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3977640"/>
            <a:ext cx="11091672" cy="2103120"/>
          </a:xfrm>
          <a:prstGeom prst="roundRect">
            <a:avLst>
              <a:gd name="adj" fmla="val 2609"/>
            </a:avLst>
          </a:prstGeom>
          <a:solidFill>
            <a:srgbClr val="F7F9FC"/>
          </a:solidFill>
          <a:ln w="12700">
            <a:solidFill>
              <a:srgbClr val="E1E6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4142232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Movements Since Last Report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822960" y="4645152"/>
            <a:ext cx="73152" cy="7315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2" name="Text 20"/>
          <p:cNvSpPr/>
          <p:nvPr/>
        </p:nvSpPr>
        <p:spPr>
          <a:xfrm>
            <a:off x="960120" y="452628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outcome] moved from [Red/Amber/Green] to [Red/Amber/Green] — [Insert brief reason].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22960" y="5056632"/>
            <a:ext cx="73152" cy="7315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4" name="Text 22"/>
          <p:cNvSpPr/>
          <p:nvPr/>
        </p:nvSpPr>
        <p:spPr>
          <a:xfrm>
            <a:off x="960120" y="493776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outcome] remains [Red/Amber/Green] — [Insert brief reason / remediation status].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7200" y="653796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Board Papers  |  Slide 3 of 7</a:t>
            </a:r>
            <a:endParaRPr lang="en-US" sz="900" dirty="0"/>
          </a:p>
        </p:txBody>
      </p:sp>
      <p:sp>
        <p:nvSpPr>
          <p:cNvPr id="26" name="Footer Placeholder"/>
          <p:cNvSpPr>
            <a:spLocks noGrp="1"/>
          </p:cNvSpPr>
          <p:nvPr>
            <p:ph type="ftr" sz="quarter"/>
          </p:nvPr>
        </p:nvSpPr>
        <p:spPr>
          <a:xfrm>
            <a:off x="1143000" y="6356350"/>
            <a:ext cx="9906000" cy="400050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en-GB" sz="1000" dirty="0">
                <a:solidFill>
                  <a:srgbClr val="808080"/>
                </a:solidFill>
              </a:rPr>
              <a:t>© 2026 xPercept.ai. Copyright and confidential. Do not distribute.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Complaints &amp; Trends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complaint volume — see Complaints Analysis Template (CD-I4) for thematic breakdown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463040"/>
          <a:ext cx="713232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909560" y="1463040"/>
            <a:ext cx="3749040" cy="4480560"/>
          </a:xfrm>
          <a:prstGeom prst="roundRect">
            <a:avLst>
              <a:gd name="adj" fmla="val 1463"/>
            </a:avLst>
          </a:prstGeom>
          <a:solidFill>
            <a:srgbClr val="F7F9FC"/>
          </a:solidFill>
          <a:ln w="12700">
            <a:solidFill>
              <a:srgbClr val="E1E6F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138160" y="164592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Complaint Themes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8183880" y="2194560"/>
            <a:ext cx="73152" cy="7315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8" name="Text 5"/>
          <p:cNvSpPr/>
          <p:nvPr/>
        </p:nvSpPr>
        <p:spPr>
          <a:xfrm>
            <a:off x="8321040" y="2148840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Renewal pricing higher than new-customer pricing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8183880" y="3063240"/>
            <a:ext cx="73152" cy="7315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0" name="Text 7"/>
          <p:cNvSpPr/>
          <p:nvPr/>
        </p:nvSpPr>
        <p:spPr>
          <a:xfrm>
            <a:off x="8321040" y="3017520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Delays in claims settlement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8183880" y="3931920"/>
            <a:ext cx="73152" cy="7315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2" name="Text 9"/>
          <p:cNvSpPr/>
          <p:nvPr/>
        </p:nvSpPr>
        <p:spPr>
          <a:xfrm>
            <a:off x="8321040" y="3886200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Difficulty cancelling recurring payment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8183880" y="4800600"/>
            <a:ext cx="73152" cy="7315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4" name="Text 11"/>
          <p:cNvSpPr/>
          <p:nvPr/>
        </p:nvSpPr>
        <p:spPr>
          <a:xfrm>
            <a:off x="8321040" y="4754880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Unclear fee disclosure at point of sale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457200" y="653796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Board Papers  |  Slide 4 of 7</a:t>
            </a:r>
            <a:endParaRPr lang="en-US" sz="900" dirty="0"/>
          </a:p>
        </p:txBody>
      </p:sp>
      <p:sp>
        <p:nvSpPr>
          <p:cNvPr id="16" name="Footer Placeholder"/>
          <p:cNvSpPr>
            <a:spLocks noGrp="1"/>
          </p:cNvSpPr>
          <p:nvPr>
            <p:ph type="ftr" sz="quarter"/>
          </p:nvPr>
        </p:nvSpPr>
        <p:spPr>
          <a:xfrm>
            <a:off x="1143000" y="6356350"/>
            <a:ext cx="9906000" cy="400050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en-GB" sz="1000" dirty="0">
                <a:solidFill>
                  <a:srgbClr val="808080"/>
                </a:solidFill>
              </a:rPr>
              <a:t>© 2026 xPercept.ai. Copyright and confidential. Do not distribute.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Vulnerable Customers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Quarterly Review Template (CD-I5) for full detail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49240" cy="1188720"/>
          </a:xfrm>
          <a:prstGeom prst="roundRect">
            <a:avLst>
              <a:gd name="adj" fmla="val 5385"/>
            </a:avLst>
          </a:prstGeom>
          <a:solidFill>
            <a:srgbClr val="F7F9FC"/>
          </a:solidFill>
          <a:ln w="12700">
            <a:solidFill>
              <a:srgbClr val="E1E6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69164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19%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834640" y="1691640"/>
            <a:ext cx="2834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of Active Base Flagged Vulnerable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172200" y="1554480"/>
            <a:ext cx="5349240" cy="1188720"/>
          </a:xfrm>
          <a:prstGeom prst="roundRect">
            <a:avLst>
              <a:gd name="adj" fmla="val 5385"/>
            </a:avLst>
          </a:prstGeom>
          <a:solidFill>
            <a:srgbClr val="F7F9FC"/>
          </a:solidFill>
          <a:ln w="12700">
            <a:solidFill>
              <a:srgbClr val="E1E6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169164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28% vs 19%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8458200" y="1691640"/>
            <a:ext cx="2834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Vulnerable Complaint Share vs Population Share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971800"/>
            <a:ext cx="5349240" cy="1188720"/>
          </a:xfrm>
          <a:prstGeom prst="roundRect">
            <a:avLst>
              <a:gd name="adj" fmla="val 5385"/>
            </a:avLst>
          </a:prstGeom>
          <a:solidFill>
            <a:srgbClr val="F7F9FC"/>
          </a:solidFill>
          <a:ln w="12700">
            <a:solidFill>
              <a:srgbClr val="E1E6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310896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72%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2834640" y="3108960"/>
            <a:ext cx="2834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Completing Vulnerability Training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72200" y="2971800"/>
            <a:ext cx="5349240" cy="1188720"/>
          </a:xfrm>
          <a:prstGeom prst="roundRect">
            <a:avLst>
              <a:gd name="adj" fmla="val 5385"/>
            </a:avLst>
          </a:prstGeom>
          <a:solidFill>
            <a:srgbClr val="F7F9FC"/>
          </a:solidFill>
          <a:ln w="12700">
            <a:solidFill>
              <a:srgbClr val="E1E6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310896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340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8458200" y="3108960"/>
            <a:ext cx="2834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Referrals to External Support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572000"/>
            <a:ext cx="11091672" cy="1508760"/>
          </a:xfrm>
          <a:prstGeom prst="roundRect">
            <a:avLst>
              <a:gd name="adj" fmla="val 3636"/>
            </a:avLst>
          </a:prstGeom>
          <a:solidFill>
            <a:srgbClr val="F7F9FC"/>
          </a:solidFill>
          <a:ln w="12700">
            <a:solidFill>
              <a:srgbClr val="E1E6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4736592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Commentary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77240" y="5029200"/>
            <a:ext cx="106070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commentary on trend direction, any concerns, and actions taken or planned to close gaps between vulnerable and general population outcomes.]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653796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Board Papers  |  Slide 5 of 7</a:t>
            </a:r>
            <a:endParaRPr lang="en-US" sz="900" dirty="0"/>
          </a:p>
        </p:txBody>
      </p:sp>
      <p:sp>
        <p:nvSpPr>
          <p:cNvPr id="20" name="Footer Placeholder"/>
          <p:cNvSpPr>
            <a:spLocks noGrp="1"/>
          </p:cNvSpPr>
          <p:nvPr>
            <p:ph type="ftr" sz="quarter"/>
          </p:nvPr>
        </p:nvSpPr>
        <p:spPr>
          <a:xfrm>
            <a:off x="1143000" y="6356350"/>
            <a:ext cx="9906000" cy="400050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en-GB" sz="1000" dirty="0">
                <a:solidFill>
                  <a:srgbClr val="808080"/>
                </a:solidFill>
              </a:rPr>
              <a:t>© 2026 xPercept.ai. Copyright and confidential. Do not distribute.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Priority Actions for Next Period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Priority Matrix &amp; Action Plan (CD-F3)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1672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6519672"/>
                <a:gridCol w="2103120"/>
                <a:gridCol w="182880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 Date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[Insert priority action]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[Insert]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[Insert]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[Insert priority action]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[Insert]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[Insert]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[Insert priority action]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[Insert]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[Insert]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[Insert priority action]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[Insert]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[Insert]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[Insert priority action]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[Insert]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[Insert]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53796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Board Papers  |  Slide 6 of 7</a:t>
            </a:r>
            <a:endParaRPr lang="en-US" sz="900" dirty="0"/>
          </a:p>
        </p:txBody>
      </p:sp>
      <p:sp>
        <p:nvSpPr>
          <p:cNvPr id="8" name="Footer Placeholder"/>
          <p:cNvSpPr>
            <a:spLocks noGrp="1"/>
          </p:cNvSpPr>
          <p:nvPr>
            <p:ph type="ftr" sz="quarter"/>
          </p:nvPr>
        </p:nvSpPr>
        <p:spPr>
          <a:xfrm>
            <a:off x="1143000" y="6356350"/>
            <a:ext cx="9906000" cy="400050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en-GB" sz="1000" dirty="0">
                <a:solidFill>
                  <a:srgbClr val="808080"/>
                </a:solidFill>
              </a:rPr>
              <a:t>© 2026 xPercept.ai. Copyright and confidential. Do not distribute.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 &amp; Discussion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731520" y="35204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supporting detail available in the Annual Consumer Duty Board Report (CD-M3) and underlying source registers.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653796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Board Papers  |  Slide 7 of 7</a:t>
            </a:r>
            <a:endParaRPr lang="en-US" sz="900" dirty="0"/>
          </a:p>
        </p:txBody>
      </p:sp>
      <p:sp>
        <p:nvSpPr>
          <p:cNvPr id="5" name="Footer Placeholder"/>
          <p:cNvSpPr>
            <a:spLocks noGrp="1"/>
          </p:cNvSpPr>
          <p:nvPr>
            <p:ph type="ftr" sz="quarter"/>
          </p:nvPr>
        </p:nvSpPr>
        <p:spPr>
          <a:xfrm>
            <a:off x="1143000" y="6356350"/>
            <a:ext cx="9906000" cy="400050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en-GB" sz="1000" dirty="0">
                <a:solidFill>
                  <a:srgbClr val="808080"/>
                </a:solidFill>
              </a:rPr>
              <a:t>© 2026 xPercept.ai. Copyright and confidential. Do not distribute.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2026-08-05T21:05:34Z</dcterms:created>
  <dcterms:modified xsi:type="dcterms:W3CDTF">2026-08-05T21:05:34Z</dcterms:modified>
</cp:coreProperties>
</file>