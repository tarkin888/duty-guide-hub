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"/>
          <p:cNvSpPr>
            <a:spLocks noGrp="1"/>
          </p:cNvSpPr>
          <p:nvPr>
            <p:ph type="ftr" sz="quarter"/>
          </p:nvPr>
        </p:nvSpPr>
        <p:spPr>
          <a:xfrm>
            <a:off x="1143000" y="6356350"/>
            <a:ext cx="9906000" cy="4000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GB" sz="1000" dirty="0">
                <a:solidFill>
                  <a:srgbClr val="808080"/>
                </a:solidFill>
              </a:rPr>
              <a:t>© 2026 xPercept.ai. Copyright and confidential. Do not distribute.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"/>
          <p:cNvSpPr>
            <a:spLocks noGrp="1"/>
          </p:cNvSpPr>
          <p:nvPr>
            <p:ph type="ftr" sz="quarter"/>
          </p:nvPr>
        </p:nvSpPr>
        <p:spPr>
          <a:xfrm>
            <a:off x="1143000" y="6356350"/>
            <a:ext cx="9906000" cy="4000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GB" sz="1000" dirty="0">
                <a:solidFill>
                  <a:srgbClr val="808080"/>
                </a:solidFill>
              </a:rPr>
              <a:t>© 2026 xPercept.ai. Copyright and confidential. Do not distribute.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1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Framework Diagram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Duty Implementation — Governance &amp; Programme  |  CD-P1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A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Company Name]</a:t>
            </a:r>
            <a:endParaRPr lang="en-US" sz="1300" dirty="0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/>
          </p:nvPr>
        </p:nvSpPr>
        <p:spPr>
          <a:xfrm>
            <a:off x="1143000" y="6356350"/>
            <a:ext cx="9906000" cy="4000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GB" sz="1000" dirty="0">
                <a:solidFill>
                  <a:srgbClr val="808080"/>
                </a:solidFill>
              </a:rPr>
              <a:t>© 2026 xPercept.ai. Copyright and confidential. Do not distribute.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Duty Governance Structure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tiers of accountability, from Board oversight to day-to-day execution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063240" y="1417320"/>
            <a:ext cx="8366760" cy="9144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91840" y="14904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91840" y="1691640"/>
            <a:ext cx="7909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of Directors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91840" y="2020824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Ultimate accountability · approves Board Charter (CD-P1) and Annual Report (CD-M3)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246620" y="2331720"/>
            <a:ext cx="0" cy="292608"/>
          </a:xfrm>
          <a:prstGeom prst="line">
            <a:avLst/>
          </a:prstGeom>
          <a:noFill/>
          <a:ln w="28575">
            <a:solidFill>
              <a:srgbClr val="8FAAD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063240" y="2624328"/>
            <a:ext cx="8366760" cy="914400"/>
          </a:xfrm>
          <a:prstGeom prst="roundRect">
            <a:avLst>
              <a:gd name="adj" fmla="val 8000"/>
            </a:avLst>
          </a:prstGeom>
          <a:solidFill>
            <a:srgbClr val="2E5C8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2697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2898648"/>
            <a:ext cx="7909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Duty Oversight Committee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291840" y="322783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Day-to-day oversight · reviews MI, gaps, and escalations (Terms of Reference, CD-P1)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246620" y="3538728"/>
            <a:ext cx="0" cy="292608"/>
          </a:xfrm>
          <a:prstGeom prst="line">
            <a:avLst/>
          </a:prstGeom>
          <a:noFill/>
          <a:ln w="28575">
            <a:solidFill>
              <a:srgbClr val="8FAAD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063240" y="3831336"/>
            <a:ext cx="8366760" cy="914400"/>
          </a:xfrm>
          <a:prstGeom prst="roundRect">
            <a:avLst>
              <a:gd name="adj" fmla="val 8000"/>
            </a:avLst>
          </a:prstGeom>
          <a:solidFill>
            <a:srgbClr val="6D9EE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91840" y="390448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4105656"/>
            <a:ext cx="7909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Governance Committee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291840" y="4434840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Approves products, FVAs, and material changes (Product Governance Framework, CD-I1)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246620" y="4745736"/>
            <a:ext cx="0" cy="292608"/>
          </a:xfrm>
          <a:prstGeom prst="line">
            <a:avLst/>
          </a:prstGeom>
          <a:noFill/>
          <a:ln w="28575">
            <a:solidFill>
              <a:srgbClr val="8FAAD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063240" y="5038344"/>
            <a:ext cx="8366760" cy="914400"/>
          </a:xfrm>
          <a:prstGeom prst="roundRect">
            <a:avLst>
              <a:gd name="adj" fmla="val 8000"/>
            </a:avLst>
          </a:prstGeom>
          <a:solidFill>
            <a:srgbClr val="9FC5E8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91840" y="511149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91840" y="5312664"/>
            <a:ext cx="7909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Owners &amp; Front Line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291840" y="5641848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Day-to-day delivery · checklists, reviews, and customer support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1417320"/>
            <a:ext cx="2331720" cy="4535424"/>
          </a:xfrm>
          <a:prstGeom prst="roundRect">
            <a:avLst>
              <a:gd name="adj" fmla="val 2353"/>
            </a:avLst>
          </a:prstGeom>
          <a:solidFill>
            <a:srgbClr val="DCE6F1"/>
          </a:solidFill>
          <a:ln w="12700">
            <a:solidFill>
              <a:srgbClr val="B7C9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15727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Assurance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" y="2057400"/>
            <a:ext cx="2011680" cy="3758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(2nd line) and Internal Audit (3rd line) provide ongoing challenge and assurance across all tiers.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RACI Matrix (CD-P1) and Decision Authority Matrix (CD-P1) for detailed role allocation at each tier.</a:t>
            </a:r>
            <a:endParaRPr lang="en-US" sz="1000" dirty="0"/>
          </a:p>
        </p:txBody>
      </p:sp>
      <p:sp>
        <p:nvSpPr>
          <p:cNvPr id="27" name="Footer Placeholder"/>
          <p:cNvSpPr>
            <a:spLocks noGrp="1"/>
          </p:cNvSpPr>
          <p:nvPr>
            <p:ph type="ftr" sz="quarter"/>
          </p:nvPr>
        </p:nvSpPr>
        <p:spPr>
          <a:xfrm>
            <a:off x="1143000" y="6356350"/>
            <a:ext cx="9906000" cy="4000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GB" sz="1000" dirty="0">
                <a:solidFill>
                  <a:srgbClr val="808080"/>
                </a:solidFill>
              </a:rPr>
              <a:t>© 2026 xPercept.ai. Copyright and confidential. Do not distribute.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Document 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document governs each tier of the structure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39496" y="141732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630936" y="14173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9496" y="2057400"/>
            <a:ext cx="2606040" cy="4206240"/>
          </a:xfrm>
          <a:prstGeom prst="roundRect">
            <a:avLst>
              <a:gd name="adj" fmla="val 2105"/>
            </a:avLst>
          </a:prstGeom>
          <a:solidFill>
            <a:srgbClr val="F7F9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2313432"/>
            <a:ext cx="73152" cy="7315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22402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Charter for Consumer Duty Oversight (CD-P1)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04088" y="3273552"/>
            <a:ext cx="73152" cy="7315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859536" y="3200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Board Report Template (CD-M3)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74136" y="141732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2E5C8A"/>
          </a:solidFill>
          <a:ln/>
        </p:spPr>
      </p:sp>
      <p:sp>
        <p:nvSpPr>
          <p:cNvPr id="12" name="Text 10"/>
          <p:cNvSpPr/>
          <p:nvPr/>
        </p:nvSpPr>
        <p:spPr>
          <a:xfrm>
            <a:off x="3465576" y="14173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Oversight Committee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74136" y="2057400"/>
            <a:ext cx="2606040" cy="4206240"/>
          </a:xfrm>
          <a:prstGeom prst="roundRect">
            <a:avLst>
              <a:gd name="adj" fmla="val 2105"/>
            </a:avLst>
          </a:prstGeom>
          <a:solidFill>
            <a:srgbClr val="F7F9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38728" y="2313432"/>
            <a:ext cx="73152" cy="73152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15" name="Text 13"/>
          <p:cNvSpPr/>
          <p:nvPr/>
        </p:nvSpPr>
        <p:spPr>
          <a:xfrm>
            <a:off x="3694176" y="22402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of Reference (CD-P1)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538728" y="3273552"/>
            <a:ext cx="73152" cy="73152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17" name="Text 15"/>
          <p:cNvSpPr/>
          <p:nvPr/>
        </p:nvSpPr>
        <p:spPr>
          <a:xfrm>
            <a:off x="3694176" y="3200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Pathway Document (CD-P1)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538728" y="4233672"/>
            <a:ext cx="73152" cy="73152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19" name="Text 17"/>
          <p:cNvSpPr/>
          <p:nvPr/>
        </p:nvSpPr>
        <p:spPr>
          <a:xfrm>
            <a:off x="3694176" y="4160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Agenda &amp; Minutes Templates (CD-P1)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08776" y="141732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6D9EEB"/>
          </a:solidFill>
          <a:ln/>
        </p:spPr>
      </p:sp>
      <p:sp>
        <p:nvSpPr>
          <p:cNvPr id="21" name="Text 19"/>
          <p:cNvSpPr/>
          <p:nvPr/>
        </p:nvSpPr>
        <p:spPr>
          <a:xfrm>
            <a:off x="6300216" y="14173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Governance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08776" y="2057400"/>
            <a:ext cx="2606040" cy="4206240"/>
          </a:xfrm>
          <a:prstGeom prst="roundRect">
            <a:avLst>
              <a:gd name="adj" fmla="val 2105"/>
            </a:avLst>
          </a:prstGeom>
          <a:solidFill>
            <a:srgbClr val="F7F9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73368" y="2313432"/>
            <a:ext cx="73152" cy="73152"/>
          </a:xfrm>
          <a:prstGeom prst="rect">
            <a:avLst/>
          </a:prstGeom>
          <a:solidFill>
            <a:srgbClr val="6D9EEB"/>
          </a:solidFill>
          <a:ln/>
        </p:spPr>
      </p:sp>
      <p:sp>
        <p:nvSpPr>
          <p:cNvPr id="24" name="Text 22"/>
          <p:cNvSpPr/>
          <p:nvPr/>
        </p:nvSpPr>
        <p:spPr>
          <a:xfrm>
            <a:off x="6528816" y="22402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Governance Framework (CD-I1)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73368" y="3273552"/>
            <a:ext cx="73152" cy="73152"/>
          </a:xfrm>
          <a:prstGeom prst="rect">
            <a:avLst/>
          </a:prstGeom>
          <a:solidFill>
            <a:srgbClr val="6D9EEB"/>
          </a:solidFill>
          <a:ln/>
        </p:spPr>
      </p:sp>
      <p:sp>
        <p:nvSpPr>
          <p:cNvPr id="26" name="Text 24"/>
          <p:cNvSpPr/>
          <p:nvPr/>
        </p:nvSpPr>
        <p:spPr>
          <a:xfrm>
            <a:off x="6528816" y="3200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Authority Matrix (CD-P1)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73368" y="4233672"/>
            <a:ext cx="73152" cy="73152"/>
          </a:xfrm>
          <a:prstGeom prst="rect">
            <a:avLst/>
          </a:prstGeom>
          <a:solidFill>
            <a:srgbClr val="6D9EEB"/>
          </a:solidFill>
          <a:ln/>
        </p:spPr>
      </p:sp>
      <p:sp>
        <p:nvSpPr>
          <p:cNvPr id="28" name="Text 26"/>
          <p:cNvSpPr/>
          <p:nvPr/>
        </p:nvSpPr>
        <p:spPr>
          <a:xfrm>
            <a:off x="6528816" y="4160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Value Assessment Framework (CD-I2)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043416" y="141732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9FC5E8"/>
          </a:solidFill>
          <a:ln/>
        </p:spPr>
      </p:sp>
      <p:sp>
        <p:nvSpPr>
          <p:cNvPr id="30" name="Text 28"/>
          <p:cNvSpPr/>
          <p:nvPr/>
        </p:nvSpPr>
        <p:spPr>
          <a:xfrm>
            <a:off x="9134856" y="14173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043416" y="2057400"/>
            <a:ext cx="2606040" cy="4206240"/>
          </a:xfrm>
          <a:prstGeom prst="roundRect">
            <a:avLst>
              <a:gd name="adj" fmla="val 2105"/>
            </a:avLst>
          </a:prstGeom>
          <a:solidFill>
            <a:srgbClr val="F7F9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208008" y="2313432"/>
            <a:ext cx="73152" cy="73152"/>
          </a:xfrm>
          <a:prstGeom prst="rect">
            <a:avLst/>
          </a:prstGeom>
          <a:solidFill>
            <a:srgbClr val="9FC5E8"/>
          </a:solidFill>
          <a:ln/>
        </p:spPr>
      </p:sp>
      <p:sp>
        <p:nvSpPr>
          <p:cNvPr id="33" name="Text 31"/>
          <p:cNvSpPr/>
          <p:nvPr/>
        </p:nvSpPr>
        <p:spPr>
          <a:xfrm>
            <a:off x="9363456" y="22402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RACI Matrix Template (CD-P1)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208008" y="3273552"/>
            <a:ext cx="73152" cy="73152"/>
          </a:xfrm>
          <a:prstGeom prst="rect">
            <a:avLst/>
          </a:prstGeom>
          <a:solidFill>
            <a:srgbClr val="9FC5E8"/>
          </a:solidFill>
          <a:ln/>
        </p:spPr>
      </p:sp>
      <p:sp>
        <p:nvSpPr>
          <p:cNvPr id="35" name="Text 33"/>
          <p:cNvSpPr/>
          <p:nvPr/>
        </p:nvSpPr>
        <p:spPr>
          <a:xfrm>
            <a:off x="9363456" y="3200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SMF Responsibility Statement Template (CD-P1)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208008" y="4233672"/>
            <a:ext cx="73152" cy="73152"/>
          </a:xfrm>
          <a:prstGeom prst="rect">
            <a:avLst/>
          </a:prstGeom>
          <a:solidFill>
            <a:srgbClr val="9FC5E8"/>
          </a:solidFill>
          <a:ln/>
        </p:spPr>
      </p:sp>
      <p:sp>
        <p:nvSpPr>
          <p:cNvPr id="37" name="Text 35"/>
          <p:cNvSpPr/>
          <p:nvPr/>
        </p:nvSpPr>
        <p:spPr>
          <a:xfrm>
            <a:off x="9363456" y="4160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Approval Checklist (CD-I1)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documents are stored and version-controlled in the Evidence Log &amp; Repository Structure (CD-I7).</a:t>
            </a:r>
            <a:endParaRPr lang="en-US" sz="1000" dirty="0"/>
          </a:p>
        </p:txBody>
      </p:sp>
      <p:sp>
        <p:nvSpPr>
          <p:cNvPr id="39" name="Footer Placeholder"/>
          <p:cNvSpPr>
            <a:spLocks noGrp="1"/>
          </p:cNvSpPr>
          <p:nvPr>
            <p:ph type="ftr" sz="quarter"/>
          </p:nvPr>
        </p:nvSpPr>
        <p:spPr>
          <a:xfrm>
            <a:off x="1143000" y="6356350"/>
            <a:ext cx="9906000" cy="4000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GB" sz="1000" dirty="0">
                <a:solidFill>
                  <a:srgbClr val="808080"/>
                </a:solidFill>
              </a:rPr>
              <a:t>© 2026 xPercept.ai. Copyright and confidential. Do not distribute.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2026-08-05T20:41:37Z</dcterms:created>
  <dcterms:modified xsi:type="dcterms:W3CDTF">2026-08-05T20:41:37Z</dcterms:modified>
</cp:coreProperties>
</file>